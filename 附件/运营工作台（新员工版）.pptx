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91" r:id="rId3"/>
    <p:sldId id="292" r:id="rId4"/>
    <p:sldId id="295" r:id="rId5"/>
    <p:sldId id="293" r:id="rId6"/>
    <p:sldId id="297" r:id="rId7"/>
    <p:sldId id="294" r:id="rId8"/>
    <p:sldId id="277" r:id="rId9"/>
    <p:sldId id="274" r:id="rId10"/>
    <p:sldId id="296" r:id="rId11"/>
    <p:sldId id="273" r:id="rId12"/>
    <p:sldId id="270" r:id="rId13"/>
  </p:sldIdLst>
  <p:sldSz cx="12188825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89A8"/>
    <a:srgbClr val="57B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54787" autoAdjust="0"/>
  </p:normalViewPr>
  <p:slideViewPr>
    <p:cSldViewPr>
      <p:cViewPr>
        <p:scale>
          <a:sx n="50" d="100"/>
          <a:sy n="50" d="100"/>
        </p:scale>
        <p:origin x="2058" y="264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384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20B349-F2EE-40B7-9A96-7F76E2326DFA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2019/6/17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79AF599-AE6F-4E1C-94D1-C707F302C5B5}" type="datetime1">
              <a:rPr lang="zh-CN" altLang="en-US" smtClean="0"/>
              <a:pPr/>
              <a:t>2019/6/17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1F2A70B-78F2-4DCF-B53B-C990D2FAFB8A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388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有个销售高手，他每个月都可以做出好的业绩。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有一次，他疑惑地问：“不知道管理者是怎么想的，我觉得把经理要求的销售额与纯利指标做到就可以了，公司应该放手让我自由发挥才是，为什么要强迫我填写一堆工作计划与总结、销售业绩报表分析、按规定拜访客户呢？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"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 rtl="0"/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“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其实对于业绩，我比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经理都重视。毕竟如果我完成不了，不仅拿不到提成，可能下个月就要走人了，我对公司这么多没有价值的过程管理都烦死了。”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“你觉得公司的管理是不是有问题？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"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 rtl="0"/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我反问他：“你的业绩是怎么做出来的？是不是因为你的运气比别人好，客户都撞在你的枪口上，认定只和你做生意？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"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他说：“当然不是，我有一套成功的销售方法，我对于客户的需求把握很准确，熟悉产品，说服技巧也很强，在客户关系维护方面做得非常到位，能够和客户成为相互依赖、相互帮助的好朋友。”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我又问他：“公司业绩比你差的人有多少？他们做销售的方法有没有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问题？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"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他说：“我的业绩排名是非常靠前的，那些做得差的人要么不适合做销售，要么不知道怎么做，问题就出在销售方法上。”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我接着问：“对于业绩差的销售人员，如果只给业绩指标压力，不做过程管理，你认为他就一定能把业绩做得漂亮吗？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"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“当然不行！”他肯定地说，“这也好办，公司可以换人呀。”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我继续问他：“如果那些业绩差的销售人员能够用你成功的销售方法，业绩会不会有所改善呢？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"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他点点头，若有所思。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这个事例充分说明了过程管理对于结果的重要性。管理者都知道要结果，但结果不会自发产生，是需要有过程去产生（也就是我们常说的要做事情）。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案例中的销售过程是典型的例行过程（即流程）。管理者对例行过程可以采取两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种管理方法：一是放任式管理，让各级员工自己去管理；二是流程式管理，设计好作业流程的方法、规则与管理要求，做好过程控制。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采取放任式管理方式，结果完全取决于操作者，没有保障。企业的命运绑在销售身上，销售如果没有完成任务，虽然会被公司开除，但销售死了，企业可能也死了。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pPr rtl="0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在竞争日益激烈的年代，放任式管理显然不能满足企业的要求，要想比竞争对手做得更好，就必须用流程管理的方式把例行过程管理起来，把销售的关键活动管理好，使公司业绩不受人员变化的影响，公司经营结果更加可控、有保障。</a:t>
            </a:r>
            <a:endParaRPr lang="zh-CN" altLang="zh-CN" sz="1200" kern="1200" dirty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6065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曾经有一位招聘主管由于经常无法在单位规定的期限内，把人招到位而非常苦恼，他的人力资源总监也不断给他施压：如果不能在三个月内改善，将要求他辞职走人。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开始他从招聘职能的各个方面（招聘渠道开拓与分析、招聘能力培养、招聘方法等）都做了详细的检讨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分析，找问题，制定改善措施。这些招聘改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善活动取得了一定的成效，但是并没有从根本上解决原来面临的招聘压力，他自己感觉已经无计可施了，如果再不能改善就只能另谋出路了。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然而，当他正在“山重水复疑无路”的时候，人力资源总监问了他一个问题：“你看待这个问题的视角是怎样的？是站在招聘模块还是站在整个人力资源管理体系上？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"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这位招聘主管这时才突然发现原因，原来自己看问题的高度一直太低，没有跳出招聘工作本身。当他站在整个人力资源管理体系高度时，他看清了人力资源管理流程的总貌，理解了招聘与人力资源其他活动的内在联系后，他有了豁然开朗的感觉。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原来公司招聘的关键问题有两个：一是公司的薪酬在行业内没有吸引力；二是新员工入职培训不到位，新员工转正率太低，企业不停地在为同一个岗位招聘名这两点都与招聘无关，最后通过人力资源总监协助，薪酬与培训部做了相应调整后，之前的招聘问越得到了较大的改善。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 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用职能导向去分析招聘问题，通常不会也不敢去想人力资源其他模块存在的问题。但利用流程导向去分析的时候．你会发现人力资源“选、用、育、留”四大模块是你中有我、我中有你，这时才能够真正从人力资源管理体系整体去寻求解决方案，真正实现系统管理。</a:t>
            </a:r>
            <a:endParaRPr lang="zh-CN" altLang="zh-CN" sz="1200" kern="1200" dirty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9156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为了考量我们自己</a:t>
            </a:r>
            <a:r>
              <a:rPr lang="en-US" altLang="zh-CN" dirty="0" smtClean="0"/>
              <a:t>(</a:t>
            </a:r>
            <a:r>
              <a:rPr lang="zh-CN" altLang="en-US" dirty="0" smtClean="0"/>
              <a:t>或者他人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的思维是否符合逻辑、是否符合好的标准。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3575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8424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为了考量我们自己</a:t>
            </a:r>
            <a:r>
              <a:rPr lang="en-US" altLang="zh-CN" dirty="0" smtClean="0"/>
              <a:t>(</a:t>
            </a:r>
            <a:r>
              <a:rPr lang="zh-CN" altLang="en-US" dirty="0" smtClean="0"/>
              <a:t>或者他人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的思维是否符合逻辑、是否符合好的标准。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9226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是指是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altLang="zh-CN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1269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>
              <a:defRPr sz="5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grpSp>
        <p:nvGrpSpPr>
          <p:cNvPr id="256" name="线条" descr="线条图形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任意多边形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8" name="任意多边形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9" name="任意多边形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0" name="任意多边形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1" name="任意多边形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2" name="任意多边形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3" name="任意多边形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4" name="任意多边形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5" name="任意多边形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6" name="任意多边形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7" name="任意多边形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8" name="任意多边形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9" name="任意多边形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0" name="任意多边形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1" name="任意多边形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2" name="任意多边形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3" name="任意多边形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4" name="任意多边形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5" name="任意多边形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6" name="任意多边形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7" name="任意多边形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8" name="任意多边形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9" name="任意多边形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0" name="任意多边形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1" name="任意多边形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2" name="任意多边形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3" name="任意多边形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4" name="任意多边形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5" name="任意多边形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6" name="任意多边形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7" name="任意多边形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8" name="任意多边形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9" name="任意多边形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0" name="任意多边形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1" name="任意多边形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2" name="任意多边形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3" name="任意多边形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4" name="任意多边形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5" name="任意多边形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6" name="任意多边形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7" name="任意多边形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8" name="任意多边形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9" name="任意多边形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0" name="任意多边形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1" name="任意多边形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2" name="任意多边形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3" name="任意多边形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4" name="任意多边形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5" name="任意多边形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6" name="任意多边形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7" name="任意多边形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8" name="任意多边形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9" name="任意多边形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0" name="任意多边形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1" name="任意多边形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2" name="任意多边形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3" name="任意多边形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4" name="任意多边形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5" name="任意多边形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6" name="任意多边形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7" name="任意多边形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8" name="任意多边形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9" name="任意多边形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0" name="任意多边形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1" name="任意多边形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2" name="任意多边形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3" name="任意多边形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4" name="任意多边形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5" name="任意多边形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6" name="任意多边形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7" name="任意多边形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8" name="任意多边形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9" name="任意多边形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0" name="任意多边形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1" name="任意多边形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2" name="任意多边形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3" name="任意多边形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4" name="任意多边形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5" name="任意多边形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6" name="任意多边形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7" name="任意多边形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8" name="任意多边形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9" name="任意多边形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0" name="任意多边形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1" name="任意多边形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2" name="任意多边形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3" name="任意多边形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4" name="任意多边形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5" name="任意多边形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6" name="任意多边形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7" name="任意多边形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8" name="任意多边形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9" name="任意多边形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0" name="任意多边形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1" name="任意多边形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2" name="任意多边形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3" name="任意多边形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4" name="任意多边形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5" name="任意多边形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6" name="任意多边形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7" name="任意多边形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8" name="任意多边形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9" name="任意多边形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0" name="任意多边形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1" name="任意多边形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2" name="任意多边形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3" name="任意多边形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4" name="任意多边形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5" name="任意多边形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6" name="任意多边形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7" name="任意多边形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8" name="任意多边形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9" name="任意多边形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0" name="任意多边形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1" name="任意多边形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2" name="任意多边形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3" name="任意多边形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4" name="任意多边形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5" name="任意多边形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6" name="任意多边形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7" name="任意多边形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8" name="任意多边形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9" name="任意多边形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 noProof="0" smtClean="0"/>
              <a:t>单击此处编辑母版副标题样式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grpSp>
        <p:nvGrpSpPr>
          <p:cNvPr id="167" name="线条" descr="线条图形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任意多边形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9" name="任意多边形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0" name="任意多边形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1" name="任意多边形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2" name="任意多边形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3" name="任意多边形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4" name="任意多边形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5" name="任意多边形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6" name="任意多边形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7" name="任意多边形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8" name="任意多边形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9" name="任意多边形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0" name="任意多边形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1" name="任意多边形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2" name="任意多边形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3" name="任意多边形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4" name="任意多边形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5" name="任意多边形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6" name="任意多边形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7" name="任意多边形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8" name="任意多边形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9" name="任意多边形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0" name="任意多边形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1" name="任意多边形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2" name="任意多边形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3" name="任意多边形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4" name="任意多边形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5" name="任意多边形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6" name="任意多边形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7" name="任意多边形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8" name="任意多边形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9" name="任意多边形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0" name="任意多边形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1" name="任意多边形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2" name="任意多边形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3" name="任意多边形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4" name="任意多边形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5" name="任意多边形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6" name="任意多边形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7" name="任意多边形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8" name="任意多边形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9" name="任意多边形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0" name="任意多边形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1" name="任意多边形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2" name="任意多边形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3" name="任意多边形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4" name="任意多边形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5" name="任意多边形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6" name="任意多边形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7" name="任意多边形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8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9" name="任意多边形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0" name="任意多边形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1" name="任意多边形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2" name="任意多边形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3" name="任意多边形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4" name="任意多边形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5" name="任意多边形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6" name="任意多边形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7" name="任意多边形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8" name="任意多边形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9" name="任意多边形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0" name="任意多边形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1" name="任意多边形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2" name="任意多边形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3" name="任意多边形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4" name="任意多边形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5" name="任意多边形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6" name="任意多边形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7" name="任意多边形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8" name="任意多边形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9" name="任意多边形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0" name="任意多边形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1" name="任意多边形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54864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77724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00584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234440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CAAE51B8-C16C-4D58-B4E7-426249342FB6}" type="datetime1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>
              <a:defRPr sz="4400" b="0" cap="none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grpSp>
        <p:nvGrpSpPr>
          <p:cNvPr id="255" name="线条" descr="线条图形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任意多边形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7" name="任意多边形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8" name="任意多边形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9" name="任意多边形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0" name="任意多边形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1" name="任意多边形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2" name="任意多边形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3" name="任意多边形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4" name="任意多边形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5" name="任意多边形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6" name="任意多边形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7" name="任意多边形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8" name="任意多边形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9" name="任意多边形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0" name="任意多边形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1" name="任意多边形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2" name="任意多边形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3" name="任意多边形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4" name="任意多边形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5" name="任意多边形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6" name="任意多边形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7" name="任意多边形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8" name="任意多边形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9" name="任意多边形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0" name="任意多边形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1" name="任意多边形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2" name="任意多边形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3" name="任意多边形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4" name="任意多边形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5" name="任意多边形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6" name="任意多边形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7" name="任意多边形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8" name="任意多边形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9" name="任意多边形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0" name="任意多边形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1" name="任意多边形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2" name="任意多边形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3" name="任意多边形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4" name="任意多边形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5" name="任意多边形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6" name="任意多边形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7" name="任意多边形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8" name="任意多边形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9" name="任意多边形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0" name="任意多边形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1" name="任意多边形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2" name="任意多边形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3" name="任意多边形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4" name="任意多边形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5" name="任意多边形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6" name="任意多边形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7" name="任意多边形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8" name="任意多边形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9" name="任意多边形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0" name="任意多边形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1" name="任意多边形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2" name="任意多边形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3" name="任意多边形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4" name="任意多边形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5" name="任意多边形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6" name="任意多边形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7" name="任意多边形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8" name="任意多边形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9" name="任意多边形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0" name="任意多边形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1" name="任意多边形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2" name="任意多边形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3" name="任意多边形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4" name="任意多边形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5" name="任意多边形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6" name="任意多边形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7" name="任意多边形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8" name="任意多边形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9" name="任意多边形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0" name="任意多边形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1" name="任意多边形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2" name="任意多边形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3" name="任意多边形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4" name="任意多边形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5" name="任意多边形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6" name="任意多边形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7" name="任意多边形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8" name="任意多边形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9" name="任意多边形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0" name="任意多边形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1" name="任意多边形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2" name="任意多边形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3" name="任意多边形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4" name="任意多边形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5" name="任意多边形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6" name="任意多边形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7" name="任意多边形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8" name="任意多边形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9" name="任意多边形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0" name="任意多边形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1" name="任意多边形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2" name="任意多边形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3" name="任意多边形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4" name="任意多边形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5" name="任意多边形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6" name="任意多边形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7" name="任意多边形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8" name="任意多边形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9" name="任意多边形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0" name="任意多边形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1" name="任意多边形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2" name="任意多边形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3" name="任意多边形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4" name="任意多边形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5" name="任意多边形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6" name="任意多边形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7" name="任意多边形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8" name="任意多边形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9" name="任意多边形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0" name="任意多边形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1" name="任意多边形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2" name="任意多边形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3" name="任意多边形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4" name="任意多边形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5" name="任意多边形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6" name="任意多边形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7" name="任意多边形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8" name="任意多边形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E642744-2BC1-482F-8D65-D67812FCF761}" type="datetime1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grpSp>
        <p:nvGrpSpPr>
          <p:cNvPr id="158" name="线条" descr="线条图形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任意多边形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0" name="任意多边形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1" name="任意多边形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2" name="任意多边形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3" name="任意多边形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4" name="任意多边形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5" name="任意多边形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6" name="任意多边形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7" name="任意多边形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8" name="任意多边形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9" name="任意多边形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0" name="任意多边形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1" name="任意多边形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2" name="任意多边形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3" name="任意多边形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4" name="任意多边形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5" name="任意多边形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6" name="任意多边形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7" name="任意多边形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8" name="任意多边形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9" name="任意多边形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0" name="任意多边形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1" name="任意多边形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2" name="任意多边形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3" name="任意多边形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4" name="任意多边形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5" name="任意多边形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6" name="任意多边形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7" name="任意多边形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8" name="任意多边形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9" name="任意多边形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0" name="任意多边形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1" name="任意多边形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2" name="任意多边形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3" name="任意多边形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4" name="任意多边形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5" name="任意多边形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6" name="任意多边形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7" name="任意多边形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8" name="任意多边形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9" name="任意多边形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0" name="任意多边形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1" name="任意多边形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2" name="任意多边形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3" name="任意多边形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4" name="任意多边形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5" name="任意多边形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6" name="任意多边形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7" name="任意多边形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8" name="任意多边形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9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0" name="任意多边形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1" name="任意多边形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2" name="任意多边形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3" name="任意多边形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4" name="任意多边形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5" name="任意多边形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6" name="任意多边形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7" name="任意多边形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8" name="任意多边形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9" name="任意多边形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0" name="任意多边形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1" name="任意多边形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2" name="任意多边形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3" name="任意多边形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4" name="任意多边形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5" name="任意多边形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6" name="任意多边形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7" name="任意多边形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8" name="任意多边形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9" name="任意多边形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0" name="任意多边形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1" name="任意多边形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2" name="任意多边形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57C6E4D-621D-4515-8831-14D98E9F728C}" type="datetime1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grpSp>
        <p:nvGrpSpPr>
          <p:cNvPr id="160" name="线条" descr="线条图形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任意多边形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2" name="任意多边形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3" name="任意多边形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4" name="任意多边形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5" name="任意多边形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6" name="任意多边形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7" name="任意多边形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8" name="任意多边形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9" name="任意多边形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0" name="任意多边形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1" name="任意多边形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2" name="任意多边形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3" name="任意多边形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4" name="任意多边形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5" name="任意多边形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6" name="任意多边形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7" name="任意多边形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8" name="任意多边形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9" name="任意多边形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0" name="任意多边形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1" name="任意多边形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2" name="任意多边形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3" name="任意多边形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4" name="任意多边形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5" name="任意多边形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6" name="任意多边形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7" name="任意多边形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8" name="任意多边形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9" name="任意多边形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0" name="任意多边形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1" name="任意多边形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2" name="任意多边形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3" name="任意多边形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4" name="任意多边形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5" name="任意多边形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6" name="任意多边形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7" name="任意多边形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8" name="任意多边形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9" name="任意多边形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0" name="任意多边形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1" name="任意多边形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2" name="任意多边形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3" name="任意多边形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4" name="任意多边形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5" name="任意多边形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6" name="任意多边形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7" name="任意多边形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8" name="任意多边形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9" name="任意多边形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0" name="任意多边形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1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2" name="任意多边形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3" name="任意多边形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4" name="任意多边形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5" name="任意多边形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6" name="任意多边形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7" name="任意多边形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8" name="任意多边形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9" name="任意多边形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0" name="任意多边形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1" name="任意多边形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2" name="任意多边形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3" name="任意多边形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4" name="任意多边形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5" name="任意多边形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6" name="任意多边形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7" name="任意多边形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8" name="任意多边形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9" name="任意多边形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0" name="任意多边形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1" name="任意多边形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2" name="任意多边形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3" name="任意多边形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4" name="任意多边形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 rtlCol="0"/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263600"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0157F41-EA24-4D6C-B76B-51104A4FF3D3}" type="datetime1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grpSp>
        <p:nvGrpSpPr>
          <p:cNvPr id="156" name="线条" descr="线条图形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任意多边形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8" name="任意多边形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9" name="任意多边形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0" name="任意多边形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1" name="任意多边形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2" name="任意多边形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3" name="任意多边形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4" name="任意多边形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5" name="任意多边形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6" name="任意多边形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7" name="任意多边形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8" name="任意多边形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9" name="任意多边形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0" name="任意多边形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1" name="任意多边形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2" name="任意多边形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3" name="任意多边形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4" name="任意多边形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5" name="任意多边形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6" name="任意多边形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7" name="任意多边形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8" name="任意多边形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9" name="任意多边形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0" name="任意多边形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1" name="任意多边形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2" name="任意多边形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3" name="任意多边形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4" name="任意多边形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5" name="任意多边形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6" name="任意多边形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7" name="任意多边形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8" name="任意多边形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9" name="任意多边形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0" name="任意多边形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1" name="任意多边形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2" name="任意多边形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3" name="任意多边形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4" name="任意多边形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5" name="任意多边形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6" name="任意多边形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7" name="任意多边形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8" name="任意多边形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9" name="任意多边形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0" name="任意多边形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1" name="任意多边形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2" name="任意多边形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3" name="任意多边形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4" name="任意多边形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5" name="任意多边形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6" name="任意多边形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7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8" name="任意多边形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9" name="任意多边形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0" name="任意多边形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1" name="任意多边形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2" name="任意多边形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3" name="任意多边形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4" name="任意多边形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5" name="任意多边形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6" name="任意多边形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7" name="任意多边形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8" name="任意多边形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9" name="任意多边形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0" name="任意多边形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1" name="任意多边形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2" name="任意多边形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3" name="任意多边形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4" name="任意多边形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5" name="任意多边形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6" name="任意多边形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7" name="任意多边形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8" name="任意多边形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9" name="任意多边形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0" name="任意多边形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41E27CD-26C5-4927-9077-9E87DDF8ECF7}" type="datetime1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E0B1C2-D5D7-4DF1-B631-6247EDFA3201}" type="datetime1">
              <a:rPr lang="zh-CN" altLang="en-US" noProof="0" smtClean="0"/>
              <a:t>2019/6/17</a:t>
            </a:fld>
            <a:endParaRPr lang="zh-CN" altLang="en-US" noProof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grpSp>
        <p:nvGrpSpPr>
          <p:cNvPr id="615" name="框架" descr="方框图形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组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组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任意多边形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5" name="任意多边形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6" name="任意多边形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7" name="任意多边形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8" name="任意多边形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9" name="任意多边形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0" name="任意多边形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1" name="任意多边形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2" name="任意多边形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3" name="任意多边形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4" name="任意多边形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5" name="任意多边形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6" name="任意多边形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7" name="任意多边形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8" name="任意多边形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9" name="任意多边形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0" name="任意多边形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1" name="任意多边形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2" name="任意多边形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3" name="任意多边形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4" name="任意多边形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5" name="任意多边形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6" name="任意多边形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7" name="任意多边形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8" name="任意多边形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9" name="任意多边形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0" name="任意多边形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1" name="任意多边形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2" name="任意多边形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3" name="任意多边形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4" name="任意多边形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5" name="任意多边形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6" name="任意多边形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7" name="任意多边形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8" name="任意多边形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9" name="任意多边形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0" name="任意多边形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1" name="任意多边形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2" name="任意多边形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3" name="任意多边形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4" name="任意多边形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5" name="任意多边形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6" name="任意多边形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7" name="任意多边形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8" name="任意多边形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9" name="任意多边形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0" name="任意多边形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1" name="任意多边形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2" name="任意多边形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3" name="任意多边形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4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5" name="任意多边形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6" name="任意多边形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7" name="任意多边形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8" name="任意多边形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9" name="任意多边形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0" name="任意多边形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1" name="任意多边形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2" name="任意多边形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3" name="任意多边形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4" name="任意多边形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5" name="任意多边形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6" name="任意多边形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7" name="任意多边形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8" name="任意多边形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9" name="任意多边形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0" name="任意多边形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1" name="任意多边形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2" name="任意多边形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3" name="任意多边形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4" name="任意多边形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5" name="任意多边形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6" name="任意多边形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7" name="任意多边形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p:grpSp>
            <p:nvGrpSpPr>
              <p:cNvPr id="769" name="组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任意多边形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1" name="任意多边形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2" name="任意多边形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3" name="任意多边形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4" name="任意多边形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5" name="任意多边形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6" name="任意多边形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7" name="任意多边形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8" name="任意多边形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9" name="任意多边形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0" name="任意多边形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1" name="任意多边形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2" name="任意多边形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3" name="任意多边形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4" name="任意多边形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5" name="任意多边形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6" name="任意多边形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7" name="任意多边形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8" name="任意多边形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9" name="任意多边形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0" name="任意多边形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1" name="任意多边形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2" name="任意多边形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3" name="任意多边形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4" name="任意多边形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5" name="任意多边形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6" name="任意多边形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7" name="任意多边形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8" name="任意多边形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9" name="任意多边形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0" name="任意多边形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1" name="任意多边形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2" name="任意多边形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3" name="任意多边形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4" name="任意多边形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5" name="任意多边形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6" name="任意多边形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7" name="任意多边形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8" name="任意多边形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9" name="任意多边形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0" name="任意多边形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1" name="任意多边形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2" name="任意多边形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3" name="任意多边形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4" name="任意多边形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5" name="任意多边形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6" name="任意多边形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7" name="任意多边形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8" name="任意多边形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9" name="任意多边形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0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1" name="任意多边形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2" name="任意多边形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3" name="任意多边形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4" name="任意多边形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5" name="任意多边形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6" name="任意多边形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7" name="任意多边形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8" name="任意多边形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9" name="任意多边形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0" name="任意多边形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1" name="任意多边形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2" name="任意多边形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3" name="任意多边形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4" name="任意多边形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5" name="任意多边形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6" name="任意多边形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7" name="任意多边形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8" name="任意多边形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9" name="任意多边形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0" name="任意多边形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1" name="任意多边形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2" name="任意多边形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3" name="任意多边形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</p:grpSp>
        <p:grpSp>
          <p:nvGrpSpPr>
            <p:cNvPr id="617" name="组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组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任意多边形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5" name="任意多边形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6" name="任意多边形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7" name="任意多边形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8" name="任意多边形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9" name="任意多边形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0" name="任意多边形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1" name="任意多边形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2" name="任意多边形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3" name="任意多边形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4" name="任意多边形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5" name="任意多边形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6" name="任意多边形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7" name="任意多边形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8" name="任意多边形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9" name="任意多边形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0" name="任意多边形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1" name="任意多边形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2" name="任意多边形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3" name="任意多边形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4" name="任意多边形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5" name="任意多边形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6" name="任意多边形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7" name="任意多边形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8" name="任意多边形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9" name="任意多边形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0" name="任意多边形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1" name="任意多边形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2" name="任意多边形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3" name="任意多边形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4" name="任意多边形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5" name="任意多边形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6" name="任意多边形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7" name="任意多边形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8" name="任意多边形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9" name="任意多边形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0" name="任意多边形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1" name="任意多边形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2" name="任意多边形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3" name="任意多边形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4" name="任意多边形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5" name="任意多边形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6" name="任意多边形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7" name="任意多边形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8" name="任意多边形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9" name="任意多边形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0" name="任意多边形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1" name="任意多边形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2" name="任意多边形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3" name="任意多边形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4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5" name="任意多边形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6" name="任意多边形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7" name="任意多边形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8" name="任意多边形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9" name="任意多边形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0" name="任意多边形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1" name="任意多边形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2" name="任意多边形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3" name="任意多边形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4" name="任意多边形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5" name="任意多边形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6" name="任意多边形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7" name="任意多边形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8" name="任意多边形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9" name="任意多边形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0" name="任意多边形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1" name="任意多边形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2" name="任意多边形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3" name="任意多边形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4" name="任意多边形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5" name="任意多边形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6" name="任意多边形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7" name="任意多边形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p:grpSp>
            <p:nvGrpSpPr>
              <p:cNvPr id="619" name="组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任意多边形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1" name="任意多边形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2" name="任意多边形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3" name="任意多边形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4" name="任意多边形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5" name="任意多边形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6" name="任意多边形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7" name="任意多边形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8" name="任意多边形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9" name="任意多边形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0" name="任意多边形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1" name="任意多边形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2" name="任意多边形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3" name="任意多边形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4" name="任意多边形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5" name="任意多边形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6" name="任意多边形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7" name="任意多边形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8" name="任意多边形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9" name="任意多边形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0" name="任意多边形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1" name="任意多边形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2" name="任意多边形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3" name="任意多边形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4" name="任意多边形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5" name="任意多边形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6" name="任意多边形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7" name="任意多边形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8" name="任意多边形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9" name="任意多边形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0" name="任意多边形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1" name="任意多边形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2" name="任意多边形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3" name="任意多边形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4" name="任意多边形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5" name="任意多边形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6" name="任意多边形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7" name="任意多边形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8" name="任意多边形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9" name="任意多边形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0" name="任意多边形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1" name="任意多边形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2" name="任意多边形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3" name="任意多边形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4" name="任意多边形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5" name="任意多边形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6" name="任意多边形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7" name="任意多边形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8" name="任意多边形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9" name="任意多边形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0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1" name="任意多边形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2" name="任意多边形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3" name="任意多边形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4" name="任意多边形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5" name="任意多边形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6" name="任意多边形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7" name="任意多边形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8" name="任意多边形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9" name="任意多边形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0" name="任意多边形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1" name="任意多边形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2" name="任意多边形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3" name="任意多边形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4" name="任意多边形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5" name="任意多边形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6" name="任意多边形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7" name="任意多边形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8" name="任意多边形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9" name="任意多边形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0" name="任意多边形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1" name="任意多边形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2" name="任意多边形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3" name="任意多边形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noProof="0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F6D0992-68C0-47A5-BA2C-3DDCADB492E0}" type="datetime1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 smtClean="0"/>
              <a:t>单击图标添加图片</a:t>
            </a:r>
            <a:endParaRPr lang="zh-CN" altLang="en-US" noProof="0" dirty="0"/>
          </a:p>
        </p:txBody>
      </p:sp>
      <p:grpSp>
        <p:nvGrpSpPr>
          <p:cNvPr id="614" name="框架" descr="方框图形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组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组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任意多边形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4" name="任意多边形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5" name="任意多边形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6" name="任意多边形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7" name="任意多边形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8" name="任意多边形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9" name="任意多边形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0" name="任意多边形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1" name="任意多边形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2" name="任意多边形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3" name="任意多边形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4" name="任意多边形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5" name="任意多边形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6" name="任意多边形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7" name="任意多边形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8" name="任意多边形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59" name="任意多边形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0" name="任意多边形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1" name="任意多边形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2" name="任意多边形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3" name="任意多边形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4" name="任意多边形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5" name="任意多边形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6" name="任意多边形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7" name="任意多边形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8" name="任意多边形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69" name="任意多边形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0" name="任意多边形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1" name="任意多边形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2" name="任意多边形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3" name="任意多边形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4" name="任意多边形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5" name="任意多边形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6" name="任意多边形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7" name="任意多边形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8" name="任意多边形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79" name="任意多边形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0" name="任意多边形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1" name="任意多边形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2" name="任意多边形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3" name="任意多边形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4" name="任意多边形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5" name="任意多边形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6" name="任意多边形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7" name="任意多边形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8" name="任意多边形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89" name="任意多边形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0" name="任意多边形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1" name="任意多边形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2" name="任意多边形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3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4" name="任意多边形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5" name="任意多边形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6" name="任意多边形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7" name="任意多边形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8" name="任意多边形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99" name="任意多边形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0" name="任意多边形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1" name="任意多边形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2" name="任意多边形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3" name="任意多边形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4" name="任意多边形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5" name="任意多边形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6" name="任意多边形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7" name="任意多边形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8" name="任意多边形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09" name="任意多边形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0" name="任意多边形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1" name="任意多边形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2" name="任意多边形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3" name="任意多边形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4" name="任意多边形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5" name="任意多边形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916" name="任意多边形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p:grpSp>
            <p:nvGrpSpPr>
              <p:cNvPr id="768" name="组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任意多边形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0" name="任意多边形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1" name="任意多边形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2" name="任意多边形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3" name="任意多边形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4" name="任意多边形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5" name="任意多边形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6" name="任意多边形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7" name="任意多边形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8" name="任意多边形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79" name="任意多边形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0" name="任意多边形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1" name="任意多边形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2" name="任意多边形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3" name="任意多边形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4" name="任意多边形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5" name="任意多边形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6" name="任意多边形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7" name="任意多边形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8" name="任意多边形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89" name="任意多边形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0" name="任意多边形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1" name="任意多边形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2" name="任意多边形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3" name="任意多边形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4" name="任意多边形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5" name="任意多边形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6" name="任意多边形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7" name="任意多边形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8" name="任意多边形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99" name="任意多边形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0" name="任意多边形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1" name="任意多边形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2" name="任意多边形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3" name="任意多边形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4" name="任意多边形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5" name="任意多边形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6" name="任意多边形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7" name="任意多边形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8" name="任意多边形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09" name="任意多边形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0" name="任意多边形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1" name="任意多边形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2" name="任意多边形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3" name="任意多边形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4" name="任意多边形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5" name="任意多边形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6" name="任意多边形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7" name="任意多边形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8" name="任意多边形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19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0" name="任意多边形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1" name="任意多边形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2" name="任意多边形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3" name="任意多边形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4" name="任意多边形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5" name="任意多边形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6" name="任意多边形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7" name="任意多边形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8" name="任意多边形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29" name="任意多边形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0" name="任意多边形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1" name="任意多边形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2" name="任意多边形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3" name="任意多边形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4" name="任意多边形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5" name="任意多边形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6" name="任意多边形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7" name="任意多边形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8" name="任意多边形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39" name="任意多边形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0" name="任意多边形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1" name="任意多边形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842" name="任意多边形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</p:grpSp>
        <p:grpSp>
          <p:nvGrpSpPr>
            <p:cNvPr id="616" name="组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组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任意多边形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4" name="任意多边形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5" name="任意多边形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6" name="任意多边形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7" name="任意多边形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8" name="任意多边形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9" name="任意多边形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0" name="任意多边形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1" name="任意多边形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2" name="任意多边形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3" name="任意多边形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4" name="任意多边形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5" name="任意多边形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6" name="任意多边形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7" name="任意多边形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8" name="任意多边形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09" name="任意多边形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0" name="任意多边形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1" name="任意多边形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2" name="任意多边形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3" name="任意多边形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4" name="任意多边形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5" name="任意多边形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6" name="任意多边形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7" name="任意多边形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8" name="任意多边形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19" name="任意多边形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0" name="任意多边形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1" name="任意多边形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2" name="任意多边形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3" name="任意多边形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4" name="任意多边形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5" name="任意多边形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6" name="任意多边形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7" name="任意多边形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8" name="任意多边形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29" name="任意多边形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0" name="任意多边形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1" name="任意多边形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2" name="任意多边形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3" name="任意多边形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4" name="任意多边形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5" name="任意多边形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6" name="任意多边形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7" name="任意多边形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8" name="任意多边形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39" name="任意多边形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0" name="任意多边形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1" name="任意多边形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2" name="任意多边形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3" name="任意多边形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4" name="任意多边形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5" name="任意多边形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6" name="任意多边形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7" name="任意多边形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8" name="任意多边形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49" name="任意多边形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0" name="任意多边形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1" name="任意多边形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2" name="任意多边形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3" name="任意多边形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4" name="任意多边形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5" name="任意多边形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6" name="任意多边形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7" name="任意多边形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8" name="任意多边形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59" name="任意多边形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0" name="任意多边形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1" name="任意多边形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2" name="任意多边形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3" name="任意多边形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4" name="任意多边形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5" name="任意多边形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766" name="任意多边形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p:grpSp>
            <p:nvGrpSpPr>
              <p:cNvPr id="618" name="组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任意多边形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0" name="任意多边形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1" name="任意多边形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2" name="任意多边形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3" name="任意多边形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4" name="任意多边形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5" name="任意多边形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6" name="任意多边形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7" name="任意多边形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8" name="任意多边形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29" name="任意多边形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0" name="任意多边形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1" name="任意多边形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2" name="任意多边形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3" name="任意多边形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4" name="任意多边形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5" name="任意多边形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6" name="任意多边形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7" name="任意多边形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8" name="任意多边形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39" name="任意多边形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0" name="任意多边形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1" name="任意多边形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2" name="任意多边形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3" name="任意多边形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4" name="任意多边形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5" name="任意多边形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6" name="任意多边形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7" name="任意多边形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8" name="任意多边形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49" name="任意多边形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0" name="任意多边形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1" name="任意多边形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2" name="任意多边形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3" name="任意多边形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4" name="任意多边形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5" name="任意多边形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6" name="任意多边形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7" name="任意多边形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8" name="任意多边形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59" name="任意多边形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0" name="任意多边形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1" name="任意多边形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2" name="任意多边形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3" name="任意多边形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4" name="任意多边形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5" name="任意多边形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6" name="任意多边形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7" name="任意多边形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8" name="任意多边形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69" name="任意多边形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0" name="任意多边形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1" name="任意多边形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2" name="任意多边形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3" name="任意多边形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4" name="任意多边形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5" name="任意多边形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6" name="任意多边形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7" name="任意多边形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8" name="任意多边形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79" name="任意多边形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0" name="任意多边形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1" name="任意多边形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2" name="任意多边形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3" name="任意多边形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4" name="任意多边形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5" name="任意多边形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6" name="任意多边形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7" name="任意多边形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8" name="任意多边形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89" name="任意多边形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0" name="任意多边形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1" name="任意多边形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692" name="任意多边形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CN" altLang="en-US" dirty="0">
                    <a:ln>
                      <a:noFill/>
                    </a:ln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59FDE26-7774-42D9-B09F-897A3804FF77}" type="datetime1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grpSp>
        <p:nvGrpSpPr>
          <p:cNvPr id="7" name="线条" descr="线条图形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任意多边形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9" name="任意多边形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任意多边形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任意多边形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任意多边形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任意多边形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任意多边形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" name="任意多边形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" name="任意多边形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" name="任意多边形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" name="任意多边形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任意多边形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" name="任意多边形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" name="任意多边形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任意多边形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" name="任意多边形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" name="任意多边形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" name="任意多边形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" name="任意多边形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" name="任意多边形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" name="任意多边形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" name="任意多边形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" name="任意多边形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" name="任意多边形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" name="任意多边形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任意多边形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" name="任意多边形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9" name="任意多边形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0" name="任意多边形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1" name="任意多边形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2" name="任意多边形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3" name="任意多边形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4" name="任意多边形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5" name="任意多边形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6" name="任意多边形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7" name="任意多边形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8" name="任意多边形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9" name="任意多边形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0" name="任意多边形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1" name="任意多边形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2" name="任意多边形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3" name="任意多边形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4" name="任意多边形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5" name="任意多边形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6" name="任意多边形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7" name="任意多边形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8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9" name="任意多边形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0" name="任意多边形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1" name="任意多边形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2" name="任意多边形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3" name="任意多边形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4" name="任意多边形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5" name="任意多边形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6" name="任意多边形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7" name="任意多边形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8" name="任意多边形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9" name="任意多边形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0" name="任意多边形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1" name="任意多边形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2" name="任意多边形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3" name="任意多边形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4" name="任意多边形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5" name="任意多边形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6" name="任意多边形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7" name="任意多边形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8" name="任意多边形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9" name="任意多边形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0" name="任意多边形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1" name="任意多边形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FACF6A5-CA30-4724-8A74-55B65EA2DB8E}" type="datetime1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vert"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grpSp>
        <p:nvGrpSpPr>
          <p:cNvPr id="7" name="线条" descr="线条图形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任意多边形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9" name="任意多边形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任意多边形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任意多边形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任意多边形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任意多边形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任意多边形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" name="任意多边形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" name="任意多边形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" name="任意多边形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" name="任意多边形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任意多边形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" name="任意多边形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" name="任意多边形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任意多边形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" name="任意多边形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" name="任意多边形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" name="任意多边形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" name="任意多边形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" name="任意多边形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" name="任意多边形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" name="任意多边形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2" name="任意多边形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" name="任意多边形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" name="任意多边形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任意多边形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" name="任意多边形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9" name="任意多边形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0" name="任意多边形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1" name="任意多边形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2" name="任意多边形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3" name="任意多边形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4" name="任意多边形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5" name="任意多边形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6" name="任意多边形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7" name="任意多边形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8" name="任意多边形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9" name="任意多边形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0" name="任意多边形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1" name="任意多边形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2" name="任意多边形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3" name="任意多边形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4" name="任意多边形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5" name="任意多边形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6" name="任意多边形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7" name="任意多边形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8" name="任意多边形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9" name="任意多边形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0" name="任意多边形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1" name="任意多边形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2" name="任意多边形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3" name="任意多边形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4" name="任意多边形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5" name="任意多边形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6" name="任意多边形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7" name="任意多边形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8" name="任意多边形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9" name="任意多边形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0" name="任意多边形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1" name="任意多边形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2" name="任意多边形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3" name="任意多边形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4" name="任意多边形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5" name="任意多边形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6" name="任意多边形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7" name="任意多边形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8" name="任意多边形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9" name="任意多边形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0" name="任意多边形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1" name="任意多边形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noProof="0" dirty="0">
                <a:ln>
                  <a:noFill/>
                </a:ln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vert"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9B0CA52-F532-4FDA-A3F9-4BF9C8E5C82E}" type="datetime1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923212" y="6400801"/>
            <a:ext cx="13962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F03606D-7858-4AA2-9E18-693315C12F6C}" type="datetime1">
              <a:rPr lang="zh-CN" altLang="en-US" noProof="0" smtClean="0"/>
              <a:t>2019/6/17</a:t>
            </a:fld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5BA54BD-C84D-46CE-8B72-31BFB26ABA43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zh-CN" altLang="en-US" kern="2600" spc="3000" dirty="0"/>
              <a:t>运营</a:t>
            </a:r>
            <a:r>
              <a:rPr lang="zh-CN" altLang="en-US" kern="2600" spc="3000" dirty="0" smtClean="0"/>
              <a:t>工作台</a:t>
            </a:r>
            <a:endParaRPr lang="zh-CN" altLang="en-US" kern="2600" spc="3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algn="r"/>
            <a:r>
              <a:rPr lang="zh-CN" altLang="en-US" dirty="0"/>
              <a:t>新员工版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08319" y="548680"/>
            <a:ext cx="210179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入门课程系列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54052" y="2924944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好的结果 </a:t>
            </a:r>
            <a:r>
              <a:rPr lang="en-US" altLang="zh-CN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need </a:t>
            </a:r>
            <a:r>
              <a:rPr lang="zh-CN" altLang="en-US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好的过程管理</a:t>
            </a:r>
            <a:endParaRPr lang="zh-CN" altLang="en-US" sz="3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576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54052" y="2924944"/>
            <a:ext cx="6480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单点</a:t>
            </a:r>
            <a:r>
              <a:rPr lang="zh-CN" altLang="en-US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思维 </a:t>
            </a:r>
            <a:r>
              <a:rPr lang="en-US" altLang="zh-CN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V.S</a:t>
            </a:r>
            <a:r>
              <a:rPr lang="en-US" altLang="zh-CN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. </a:t>
            </a:r>
            <a:r>
              <a:rPr lang="zh-CN" altLang="en-US" sz="3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变化</a:t>
            </a:r>
            <a:r>
              <a:rPr lang="zh-CN" altLang="en-US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思维</a:t>
            </a:r>
            <a:r>
              <a:rPr lang="en-US" altLang="zh-CN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zh-CN" altLang="en-US" sz="3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96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01924" y="1988840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社会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30316" y="3573016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组织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01924" y="5157192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1924" y="3573016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企业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786954" y="3573016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协作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30516" y="5157192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30516" y="1988840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关系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424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54052" y="2924944"/>
            <a:ext cx="7272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富士康是如何生产那么多产品的？</a:t>
            </a:r>
            <a:endParaRPr lang="zh-CN" altLang="en-US" sz="3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84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31183" y="2645681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用户端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87567" y="3437769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设计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42298" y="4229857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管理端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959" y="1997609"/>
            <a:ext cx="1296144" cy="8802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30" y="4997755"/>
            <a:ext cx="622002" cy="103427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823" y="3420232"/>
            <a:ext cx="762000" cy="80962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358108" y="1844824"/>
            <a:ext cx="2376264" cy="3960440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endCxn id="2" idx="1"/>
          </p:cNvCxnSpPr>
          <p:nvPr/>
        </p:nvCxnSpPr>
        <p:spPr>
          <a:xfrm>
            <a:off x="3011103" y="2645681"/>
            <a:ext cx="720080" cy="396044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9" idx="3"/>
            <a:endCxn id="7" idx="1"/>
          </p:cNvCxnSpPr>
          <p:nvPr/>
        </p:nvCxnSpPr>
        <p:spPr>
          <a:xfrm flipV="1">
            <a:off x="2674032" y="4625901"/>
            <a:ext cx="1068266" cy="888992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0" idx="1"/>
            <a:endCxn id="4" idx="3"/>
          </p:cNvCxnSpPr>
          <p:nvPr/>
        </p:nvCxnSpPr>
        <p:spPr>
          <a:xfrm flipH="1">
            <a:off x="8771743" y="3825045"/>
            <a:ext cx="720080" cy="8768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2" idx="3"/>
            <a:endCxn id="4" idx="1"/>
          </p:cNvCxnSpPr>
          <p:nvPr/>
        </p:nvCxnSpPr>
        <p:spPr>
          <a:xfrm>
            <a:off x="5315359" y="3041725"/>
            <a:ext cx="1872208" cy="792088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4" idx="1"/>
            <a:endCxn id="7" idx="3"/>
          </p:cNvCxnSpPr>
          <p:nvPr/>
        </p:nvCxnSpPr>
        <p:spPr>
          <a:xfrm flipH="1">
            <a:off x="5326474" y="3833813"/>
            <a:ext cx="1861093" cy="792088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" idx="2"/>
            <a:endCxn id="7" idx="0"/>
          </p:cNvCxnSpPr>
          <p:nvPr/>
        </p:nvCxnSpPr>
        <p:spPr>
          <a:xfrm>
            <a:off x="4523271" y="3437769"/>
            <a:ext cx="11115" cy="792088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标题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运营工作台系统的组成部分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6107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3852" y="1124744"/>
            <a:ext cx="158417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销售高手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18148" y="548680"/>
            <a:ext cx="7632848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为什么要填写各种总结，做分析，按规定拜访客户</a:t>
            </a:r>
            <a:r>
              <a:rPr lang="en-US" altLang="zh-CN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……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7832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22004" y="908720"/>
            <a:ext cx="6686446" cy="1137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为了个人的发展</a:t>
            </a:r>
            <a:endParaRPr lang="en-US" altLang="zh-CN" sz="2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中国要真正进入现代文明，必须有合格的公民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636" y="2348880"/>
            <a:ext cx="1557962" cy="105811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076" y="2348880"/>
            <a:ext cx="616018" cy="102432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070076" y="3373206"/>
            <a:ext cx="646331" cy="4607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公民</a:t>
            </a:r>
          </a:p>
        </p:txBody>
      </p:sp>
      <p:sp>
        <p:nvSpPr>
          <p:cNvPr id="6" name="矩形 5"/>
          <p:cNvSpPr/>
          <p:nvPr/>
        </p:nvSpPr>
        <p:spPr>
          <a:xfrm>
            <a:off x="8566451" y="3373206"/>
            <a:ext cx="646331" cy="4607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群众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41864" y="3675875"/>
            <a:ext cx="272382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依据理性和程序解决问题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38239" y="3675875"/>
            <a:ext cx="272382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依赖权威和力量解决问题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341884" y="4183706"/>
            <a:ext cx="9577064" cy="0"/>
          </a:xfrm>
          <a:prstGeom prst="lin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708164" y="4341741"/>
            <a:ext cx="4455066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知道何时问问题？</a:t>
            </a:r>
            <a:endParaRPr lang="en-US" altLang="zh-CN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知道如何问问题？</a:t>
            </a:r>
            <a:endParaRPr lang="en-US" altLang="zh-CN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知道提出批判性问题是维权必需能力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  <p:sp>
        <p:nvSpPr>
          <p:cNvPr id="12" name="矩形 11"/>
          <p:cNvSpPr/>
          <p:nvPr/>
        </p:nvSpPr>
        <p:spPr>
          <a:xfrm>
            <a:off x="7204539" y="4341741"/>
            <a:ext cx="3993401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听话时是顺民；</a:t>
            </a:r>
            <a:endParaRPr lang="en-US" altLang="zh-CN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不听话时是刁民；</a:t>
            </a:r>
            <a:endParaRPr lang="en-US" altLang="zh-CN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受到伤害时就容易被煽动成暴民。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616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22414" y="2636912"/>
            <a:ext cx="9468542" cy="1660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世界是不断变化的，千万不要以为可以有什么法宝，一劳永逸，只能积极进取</a:t>
            </a:r>
            <a:endParaRPr lang="zh-CN" altLang="en-US" sz="3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熵增原理</a:t>
            </a:r>
          </a:p>
        </p:txBody>
      </p:sp>
    </p:spTree>
    <p:extLst>
      <p:ext uri="{BB962C8B-B14F-4D97-AF65-F5344CB8AC3E}">
        <p14:creationId xmlns:p14="http://schemas.microsoft.com/office/powerpoint/2010/main" val="296050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718398" y="3081248"/>
                <a:ext cx="3752277" cy="6520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2400" dirty="0" smtClean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生存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余力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生存</m:t>
                        </m:r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力量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生存</m:t>
                        </m:r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负载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</m:den>
                    </m:f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398" y="3081248"/>
                <a:ext cx="3752277" cy="652038"/>
              </a:xfrm>
              <a:prstGeom prst="rect">
                <a:avLst/>
              </a:prstGeom>
              <a:blipFill rotWithShape="0">
                <a:blip r:embed="rId2"/>
                <a:stretch>
                  <a:fillRect l="-4870" t="-935" b="-4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503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2218021" y="2402160"/>
            <a:ext cx="3240360" cy="720080"/>
          </a:xfrm>
          <a:prstGeom prst="roundRect">
            <a:avLst/>
          </a:prstGeom>
          <a:solidFill>
            <a:schemeClr val="tx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过程思维</a:t>
            </a:r>
            <a:endParaRPr lang="zh-CN" altLang="en-US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218021" y="3527648"/>
            <a:ext cx="3240360" cy="720080"/>
          </a:xfrm>
          <a:prstGeom prst="roundRect">
            <a:avLst/>
          </a:prstGeom>
          <a:solidFill>
            <a:schemeClr val="tx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多维思维</a:t>
            </a:r>
            <a:endParaRPr lang="zh-CN" altLang="en-US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205980" y="4653136"/>
            <a:ext cx="3240360" cy="720080"/>
          </a:xfrm>
          <a:prstGeom prst="roundRect">
            <a:avLst/>
          </a:prstGeom>
          <a:solidFill>
            <a:schemeClr val="tx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类比思维</a:t>
            </a:r>
            <a:endParaRPr lang="zh-CN" altLang="en-US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114565" y="2402160"/>
            <a:ext cx="3240360" cy="720080"/>
          </a:xfrm>
          <a:prstGeom prst="roundRect">
            <a:avLst/>
          </a:prstGeom>
          <a:solidFill>
            <a:schemeClr val="tx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积极变化</a:t>
            </a:r>
            <a:endParaRPr lang="zh-CN" altLang="en-US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114565" y="3527648"/>
            <a:ext cx="3240360" cy="720080"/>
          </a:xfrm>
          <a:prstGeom prst="roundRect">
            <a:avLst/>
          </a:prstGeom>
          <a:solidFill>
            <a:schemeClr val="tx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单目标</a:t>
            </a:r>
            <a:endParaRPr lang="zh-CN" altLang="en-US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102524" y="4653136"/>
            <a:ext cx="3240360" cy="720080"/>
          </a:xfrm>
          <a:prstGeom prst="roundRect">
            <a:avLst/>
          </a:prstGeom>
          <a:solidFill>
            <a:schemeClr val="tx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时间的力量</a:t>
            </a:r>
            <a:endParaRPr lang="zh-CN" altLang="en-US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02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46140" y="2852936"/>
            <a:ext cx="48013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知行合一　格物致知</a:t>
            </a:r>
            <a:endParaRPr lang="zh-CN" altLang="en-US" sz="4000" dirty="0"/>
          </a:p>
        </p:txBody>
      </p:sp>
      <p:sp>
        <p:nvSpPr>
          <p:cNvPr id="2" name="文本框 1"/>
          <p:cNvSpPr txBox="1"/>
          <p:nvPr/>
        </p:nvSpPr>
        <p:spPr>
          <a:xfrm>
            <a:off x="5354941" y="3762682"/>
            <a:ext cx="1383712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 smtClean="0">
                <a:solidFill>
                  <a:srgbClr val="3E89A8"/>
                </a:solidFill>
              </a:rPr>
              <a:t>The end</a:t>
            </a:r>
            <a:endParaRPr lang="zh-CN" altLang="en-US" sz="2800" dirty="0">
              <a:solidFill>
                <a:srgbClr val="3E89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82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黑板 16 x 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465_TF02804846_TF02804846" id="{118C6178-8627-4F1A-8ADE-4D23F9B5C89B}" vid="{47D4BC64-CC5E-41E6-96A6-68E3DA472C92}"/>
    </a:ext>
  </a:extLst>
</a:theme>
</file>

<file path=ppt/theme/theme2.xml><?xml version="1.0" encoding="utf-8"?>
<a:theme xmlns:a="http://schemas.openxmlformats.org/drawingml/2006/main" name="办公室主题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黑板教育演示文稿（宽屏）</Template>
  <TotalTime>1765</TotalTime>
  <Words>291</Words>
  <Application>Microsoft Office PowerPoint</Application>
  <PresentationFormat>自定义</PresentationFormat>
  <Paragraphs>94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Microsoft YaHei UI</vt:lpstr>
      <vt:lpstr>宋体</vt:lpstr>
      <vt:lpstr>微软雅黑 Light</vt:lpstr>
      <vt:lpstr>Arial</vt:lpstr>
      <vt:lpstr>Cambria Math</vt:lpstr>
      <vt:lpstr>Consolas</vt:lpstr>
      <vt:lpstr>Corbel</vt:lpstr>
      <vt:lpstr>Wingdings</vt:lpstr>
      <vt:lpstr>黑板 16 x 9</vt:lpstr>
      <vt:lpstr>运营工作台</vt:lpstr>
      <vt:lpstr>PowerPoint 演示文稿</vt:lpstr>
      <vt:lpstr>PowerPoint 演示文稿</vt:lpstr>
      <vt:lpstr>PowerPoint 演示文稿</vt:lpstr>
      <vt:lpstr>PowerPoint 演示文稿</vt:lpstr>
      <vt:lpstr>运营工作台系统的组成部分</vt:lpstr>
      <vt:lpstr>PowerPoint 演示文稿</vt:lpstr>
      <vt:lpstr>PowerPoint 演示文稿</vt:lpstr>
      <vt:lpstr>熵增原理</vt:lpstr>
      <vt:lpstr>PowerPoint 演示文稿</vt:lpstr>
      <vt:lpstr>总结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标题布局</dc:title>
  <dc:creator>张 鹏飞</dc:creator>
  <cp:lastModifiedBy>张 鹏飞</cp:lastModifiedBy>
  <cp:revision>73</cp:revision>
  <dcterms:created xsi:type="dcterms:W3CDTF">2019-01-10T03:39:20Z</dcterms:created>
  <dcterms:modified xsi:type="dcterms:W3CDTF">2019-06-17T10:23:41Z</dcterms:modified>
</cp:coreProperties>
</file>